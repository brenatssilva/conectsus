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1" r:id="rId2"/>
    <p:sldId id="292" r:id="rId3"/>
    <p:sldId id="263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E0E8F0"/>
    <a:srgbClr val="D8E2EC"/>
    <a:srgbClr val="E1E5EF"/>
    <a:srgbClr val="E1E5EE"/>
    <a:srgbClr val="F4F6F9"/>
    <a:srgbClr val="ECE7F2"/>
    <a:srgbClr val="AAC3D3"/>
    <a:srgbClr val="D0D7E4"/>
    <a:srgbClr val="CCE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5455" autoAdjust="0"/>
  </p:normalViewPr>
  <p:slideViewPr>
    <p:cSldViewPr snapToGrid="0">
      <p:cViewPr varScale="1">
        <p:scale>
          <a:sx n="55" d="100"/>
          <a:sy n="55" d="100"/>
        </p:scale>
        <p:origin x="13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5166D-47B0-4EC0-8CCD-5DD2B94789F5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70711-46DC-4EE7-B24A-1E5B7643DF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63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https://app.powerbi.com/view?r=eyJrIjoiNmU1NGE0YTEtZjc5NS00YzM2LTgyM2MtMDAwNjczZDI4ZWI0IiwidCI6IjAwNzFiNjQyLTMxNmQtNDRiMy04NmY1LTc1MjQ1YmZhNWViMiJ9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https://biprod.salvador.ba.gov.br/sense/app/31b03ed9-1cb6-4d75-ac46-6bdfe2e0e239/sheet/2e44944a-5541-4157-b50b-12ea45f75f40/state/analysis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70711-46DC-4EE7-B24A-1E5B7643DF1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59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51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99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5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13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11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20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60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78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22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73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B3D4C-2626-457D-944F-A349BC5046AB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FAAFE-DBB3-4E27-85E0-2E3DF2B909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3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4F6F9"/>
            </a:gs>
            <a:gs pos="50000">
              <a:srgbClr val="E1E5EE"/>
            </a:gs>
            <a:gs pos="100000">
              <a:srgbClr val="D0D7E4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/>
          <p:cNvGrpSpPr/>
          <p:nvPr/>
        </p:nvGrpSpPr>
        <p:grpSpPr>
          <a:xfrm>
            <a:off x="4381449" y="1965748"/>
            <a:ext cx="3419918" cy="3419918"/>
            <a:chOff x="5926384" y="956689"/>
            <a:chExt cx="2299500" cy="2299500"/>
          </a:xfrm>
        </p:grpSpPr>
        <p:sp>
          <p:nvSpPr>
            <p:cNvPr id="44" name="Elipse 43"/>
            <p:cNvSpPr/>
            <p:nvPr/>
          </p:nvSpPr>
          <p:spPr>
            <a:xfrm>
              <a:off x="5926384" y="956689"/>
              <a:ext cx="2299500" cy="2299500"/>
            </a:xfrm>
            <a:prstGeom prst="ellipse">
              <a:avLst/>
            </a:prstGeom>
            <a:solidFill>
              <a:srgbClr val="E1E5EF"/>
            </a:solidFill>
            <a:ln>
              <a:noFill/>
            </a:ln>
            <a:effectLst>
              <a:innerShdw blurRad="254000" dist="190500" dir="13500000">
                <a:schemeClr val="bg1">
                  <a:lumMod val="75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48" name="Grupo 47"/>
            <p:cNvGrpSpPr/>
            <p:nvPr/>
          </p:nvGrpSpPr>
          <p:grpSpPr>
            <a:xfrm>
              <a:off x="6052384" y="1082692"/>
              <a:ext cx="2047501" cy="2047501"/>
              <a:chOff x="8198450" y="4604522"/>
              <a:chExt cx="1116818" cy="1116817"/>
            </a:xfrm>
          </p:grpSpPr>
          <p:sp>
            <p:nvSpPr>
              <p:cNvPr id="46" name="Elipse 45"/>
              <p:cNvSpPr/>
              <p:nvPr/>
            </p:nvSpPr>
            <p:spPr>
              <a:xfrm>
                <a:off x="8198450" y="4604522"/>
                <a:ext cx="1116818" cy="1116817"/>
              </a:xfrm>
              <a:prstGeom prst="ellipse">
                <a:avLst/>
              </a:prstGeom>
              <a:solidFill>
                <a:srgbClr val="DEE1E4"/>
              </a:solidFill>
              <a:ln>
                <a:noFill/>
              </a:ln>
              <a:effectLst>
                <a:outerShdw blurRad="127000" dist="1270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Elipse 46"/>
              <p:cNvSpPr/>
              <p:nvPr/>
            </p:nvSpPr>
            <p:spPr>
              <a:xfrm>
                <a:off x="8198450" y="4604522"/>
                <a:ext cx="1116818" cy="1116817"/>
              </a:xfrm>
              <a:prstGeom prst="ellipse">
                <a:avLst/>
              </a:prstGeom>
              <a:solidFill>
                <a:srgbClr val="E1E5EF"/>
              </a:solidFill>
              <a:ln>
                <a:noFill/>
              </a:ln>
              <a:effectLst>
                <a:outerShdw blurRad="127000" dist="127000" dir="13200000" algn="tl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40" name="Grupo 42"/>
          <p:cNvGrpSpPr/>
          <p:nvPr/>
        </p:nvGrpSpPr>
        <p:grpSpPr>
          <a:xfrm>
            <a:off x="263684" y="341593"/>
            <a:ext cx="2916000" cy="1013415"/>
            <a:chOff x="282625" y="1332433"/>
            <a:chExt cx="1670859" cy="5353404"/>
          </a:xfrm>
        </p:grpSpPr>
        <p:sp>
          <p:nvSpPr>
            <p:cNvPr id="41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Grupo 42"/>
          <p:cNvGrpSpPr/>
          <p:nvPr/>
        </p:nvGrpSpPr>
        <p:grpSpPr>
          <a:xfrm>
            <a:off x="263684" y="2089253"/>
            <a:ext cx="2916000" cy="1013415"/>
            <a:chOff x="282625" y="1332433"/>
            <a:chExt cx="1670859" cy="5353404"/>
          </a:xfrm>
        </p:grpSpPr>
        <p:sp>
          <p:nvSpPr>
            <p:cNvPr id="49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2" name="Grupo 42"/>
          <p:cNvGrpSpPr/>
          <p:nvPr/>
        </p:nvGrpSpPr>
        <p:grpSpPr>
          <a:xfrm>
            <a:off x="263684" y="3871338"/>
            <a:ext cx="2916000" cy="1013415"/>
            <a:chOff x="282625" y="1332433"/>
            <a:chExt cx="1670859" cy="5353404"/>
          </a:xfrm>
        </p:grpSpPr>
        <p:sp>
          <p:nvSpPr>
            <p:cNvPr id="53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5" name="Grupo 42"/>
          <p:cNvGrpSpPr/>
          <p:nvPr/>
        </p:nvGrpSpPr>
        <p:grpSpPr>
          <a:xfrm>
            <a:off x="263684" y="5528734"/>
            <a:ext cx="2916000" cy="1013415"/>
            <a:chOff x="282625" y="1332433"/>
            <a:chExt cx="1670859" cy="5353404"/>
          </a:xfrm>
        </p:grpSpPr>
        <p:sp>
          <p:nvSpPr>
            <p:cNvPr id="56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8" name="Grupo 42"/>
          <p:cNvGrpSpPr/>
          <p:nvPr/>
        </p:nvGrpSpPr>
        <p:grpSpPr>
          <a:xfrm>
            <a:off x="9003132" y="341593"/>
            <a:ext cx="2916000" cy="1013415"/>
            <a:chOff x="282625" y="1332433"/>
            <a:chExt cx="1670859" cy="5353404"/>
          </a:xfrm>
        </p:grpSpPr>
        <p:sp>
          <p:nvSpPr>
            <p:cNvPr id="59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1" name="Grupo 42"/>
          <p:cNvGrpSpPr/>
          <p:nvPr/>
        </p:nvGrpSpPr>
        <p:grpSpPr>
          <a:xfrm>
            <a:off x="9003132" y="2089253"/>
            <a:ext cx="2916000" cy="1013415"/>
            <a:chOff x="282625" y="1332433"/>
            <a:chExt cx="1670859" cy="5353404"/>
          </a:xfrm>
        </p:grpSpPr>
        <p:sp>
          <p:nvSpPr>
            <p:cNvPr id="62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4" name="Grupo 42"/>
          <p:cNvGrpSpPr/>
          <p:nvPr/>
        </p:nvGrpSpPr>
        <p:grpSpPr>
          <a:xfrm>
            <a:off x="9003132" y="3871338"/>
            <a:ext cx="2916000" cy="1013415"/>
            <a:chOff x="282625" y="1332433"/>
            <a:chExt cx="1670859" cy="5353404"/>
          </a:xfrm>
        </p:grpSpPr>
        <p:sp>
          <p:nvSpPr>
            <p:cNvPr id="65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8" name="Grupo 42"/>
          <p:cNvGrpSpPr/>
          <p:nvPr/>
        </p:nvGrpSpPr>
        <p:grpSpPr>
          <a:xfrm>
            <a:off x="9003132" y="5528734"/>
            <a:ext cx="2916000" cy="1013415"/>
            <a:chOff x="282625" y="1332433"/>
            <a:chExt cx="1670859" cy="5353404"/>
          </a:xfrm>
        </p:grpSpPr>
        <p:sp>
          <p:nvSpPr>
            <p:cNvPr id="79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2" name="Grupo 42"/>
          <p:cNvGrpSpPr/>
          <p:nvPr/>
        </p:nvGrpSpPr>
        <p:grpSpPr>
          <a:xfrm>
            <a:off x="4633408" y="5614632"/>
            <a:ext cx="2916000" cy="1013415"/>
            <a:chOff x="282625" y="1332433"/>
            <a:chExt cx="1670859" cy="5353404"/>
          </a:xfrm>
        </p:grpSpPr>
        <p:sp>
          <p:nvSpPr>
            <p:cNvPr id="84" name="Retângulo de cantos arredondados 66"/>
            <p:cNvSpPr/>
            <p:nvPr/>
          </p:nvSpPr>
          <p:spPr>
            <a:xfrm>
              <a:off x="282625" y="1332438"/>
              <a:ext cx="1670859" cy="5353399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Retângulo de cantos arredondados 67"/>
            <p:cNvSpPr/>
            <p:nvPr/>
          </p:nvSpPr>
          <p:spPr>
            <a:xfrm>
              <a:off x="282625" y="1332433"/>
              <a:ext cx="1670859" cy="5353404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tângulo 1"/>
          <p:cNvSpPr/>
          <p:nvPr/>
        </p:nvSpPr>
        <p:spPr>
          <a:xfrm>
            <a:off x="1018825" y="380783"/>
            <a:ext cx="133921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Completude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86" name="Retângulo 85"/>
          <p:cNvSpPr/>
          <p:nvPr/>
        </p:nvSpPr>
        <p:spPr>
          <a:xfrm>
            <a:off x="9850476" y="388279"/>
            <a:ext cx="1503938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Oportunidade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87" name="Retângulo 86"/>
          <p:cNvSpPr/>
          <p:nvPr/>
        </p:nvSpPr>
        <p:spPr>
          <a:xfrm>
            <a:off x="1011130" y="2139421"/>
            <a:ext cx="1354602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Consistência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88" name="Retângulo 87"/>
          <p:cNvSpPr/>
          <p:nvPr/>
        </p:nvSpPr>
        <p:spPr>
          <a:xfrm>
            <a:off x="10036393" y="2143598"/>
            <a:ext cx="113210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Cobertura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05" name="Retângulo 104"/>
          <p:cNvSpPr/>
          <p:nvPr/>
        </p:nvSpPr>
        <p:spPr>
          <a:xfrm>
            <a:off x="921105" y="3899557"/>
            <a:ext cx="1534651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Confiabilidade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06" name="Retângulo 105"/>
          <p:cNvSpPr/>
          <p:nvPr/>
        </p:nvSpPr>
        <p:spPr>
          <a:xfrm>
            <a:off x="9738266" y="3925682"/>
            <a:ext cx="1728358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Não-duplicidade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07" name="Retângulo 106"/>
          <p:cNvSpPr/>
          <p:nvPr/>
        </p:nvSpPr>
        <p:spPr>
          <a:xfrm>
            <a:off x="964905" y="5556953"/>
            <a:ext cx="151355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Acessibilidade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08" name="Retângulo 107"/>
          <p:cNvSpPr/>
          <p:nvPr/>
        </p:nvSpPr>
        <p:spPr>
          <a:xfrm>
            <a:off x="9505061" y="5575443"/>
            <a:ext cx="2194768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/>
              <a:t>Clareza </a:t>
            </a:r>
            <a:r>
              <a:rPr lang="pt-BR" dirty="0" smtClean="0"/>
              <a:t>metodológica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09" name="Retângulo 108"/>
          <p:cNvSpPr/>
          <p:nvPr/>
        </p:nvSpPr>
        <p:spPr>
          <a:xfrm>
            <a:off x="5596721" y="5629788"/>
            <a:ext cx="98937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Validade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10" name="Retângulo 109"/>
          <p:cNvSpPr/>
          <p:nvPr/>
        </p:nvSpPr>
        <p:spPr>
          <a:xfrm>
            <a:off x="5028473" y="2794784"/>
            <a:ext cx="2077813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IQD</a:t>
            </a:r>
          </a:p>
          <a:p>
            <a:pPr algn="ctr"/>
            <a:r>
              <a:rPr lang="pt-BR" dirty="0" smtClean="0"/>
              <a:t>Índice de </a:t>
            </a:r>
          </a:p>
          <a:p>
            <a:pPr algn="ctr"/>
            <a:r>
              <a:rPr lang="pt-BR" dirty="0" smtClean="0"/>
              <a:t>Qualidade de Dados</a:t>
            </a:r>
          </a:p>
          <a:p>
            <a:pPr algn="ctr"/>
            <a:r>
              <a:rPr lang="pt-BR" sz="2800" dirty="0" smtClean="0"/>
              <a:t>100%</a:t>
            </a:r>
            <a:endParaRPr lang="pt-BR" sz="2800" dirty="0"/>
          </a:p>
        </p:txBody>
      </p:sp>
      <p:sp>
        <p:nvSpPr>
          <p:cNvPr id="111" name="Retângulo 110"/>
          <p:cNvSpPr/>
          <p:nvPr/>
        </p:nvSpPr>
        <p:spPr>
          <a:xfrm>
            <a:off x="3637505" y="612226"/>
            <a:ext cx="47863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dos dados da RNDS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141166" y="1024797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1174418" y="2754975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1141166" y="4515110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1141165" y="6193089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10055180" y="1024797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10050917" y="2770478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5550178" y="4363197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10050917" y="4580750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5541272" y="6258716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9910996" y="6219525"/>
            <a:ext cx="1094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6" name="Grupo 68"/>
          <p:cNvGrpSpPr/>
          <p:nvPr/>
        </p:nvGrpSpPr>
        <p:grpSpPr>
          <a:xfrm rot="5400000">
            <a:off x="5726454" y="-1722220"/>
            <a:ext cx="402246" cy="4146368"/>
            <a:chOff x="282625" y="1332437"/>
            <a:chExt cx="1670859" cy="5353400"/>
          </a:xfrm>
        </p:grpSpPr>
        <p:sp>
          <p:nvSpPr>
            <p:cNvPr id="77" name="Retângulo de cantos arredondados 69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81" name="Retângulo de cantos arredondados 70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83" name="Retângulo 82"/>
          <p:cNvSpPr/>
          <p:nvPr/>
        </p:nvSpPr>
        <p:spPr>
          <a:xfrm>
            <a:off x="3790492" y="166298"/>
            <a:ext cx="42452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600" dirty="0" smtClean="0"/>
              <a:t>Filtros: </a:t>
            </a:r>
            <a:r>
              <a:rPr 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Brasil, UF, Regiões, Municípios, CNES, MI</a:t>
            </a:r>
          </a:p>
        </p:txBody>
      </p:sp>
    </p:spTree>
    <p:extLst>
      <p:ext uri="{BB962C8B-B14F-4D97-AF65-F5344CB8AC3E}">
        <p14:creationId xmlns:p14="http://schemas.microsoft.com/office/powerpoint/2010/main" val="14379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4F6F9"/>
            </a:gs>
            <a:gs pos="50000">
              <a:srgbClr val="E1E5EE"/>
            </a:gs>
            <a:gs pos="100000">
              <a:srgbClr val="D0D7E4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/>
          <p:cNvGrpSpPr/>
          <p:nvPr/>
        </p:nvGrpSpPr>
        <p:grpSpPr>
          <a:xfrm>
            <a:off x="8536539" y="1679559"/>
            <a:ext cx="3599662" cy="3599662"/>
            <a:chOff x="5926384" y="956689"/>
            <a:chExt cx="2299500" cy="2299500"/>
          </a:xfrm>
        </p:grpSpPr>
        <p:sp>
          <p:nvSpPr>
            <p:cNvPr id="44" name="Elipse 43"/>
            <p:cNvSpPr/>
            <p:nvPr/>
          </p:nvSpPr>
          <p:spPr>
            <a:xfrm>
              <a:off x="5926384" y="956689"/>
              <a:ext cx="2299500" cy="2299500"/>
            </a:xfrm>
            <a:prstGeom prst="ellipse">
              <a:avLst/>
            </a:prstGeom>
            <a:solidFill>
              <a:srgbClr val="E1E5EF"/>
            </a:solidFill>
            <a:ln>
              <a:noFill/>
            </a:ln>
            <a:effectLst>
              <a:innerShdw blurRad="254000" dist="190500" dir="13500000">
                <a:schemeClr val="bg1">
                  <a:lumMod val="75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48" name="Grupo 47"/>
            <p:cNvGrpSpPr/>
            <p:nvPr/>
          </p:nvGrpSpPr>
          <p:grpSpPr>
            <a:xfrm>
              <a:off x="6052384" y="1082692"/>
              <a:ext cx="2047501" cy="2047501"/>
              <a:chOff x="8198450" y="4604522"/>
              <a:chExt cx="1116818" cy="1116817"/>
            </a:xfrm>
          </p:grpSpPr>
          <p:sp>
            <p:nvSpPr>
              <p:cNvPr id="46" name="Elipse 45"/>
              <p:cNvSpPr/>
              <p:nvPr/>
            </p:nvSpPr>
            <p:spPr>
              <a:xfrm>
                <a:off x="8198450" y="4604522"/>
                <a:ext cx="1116818" cy="1116817"/>
              </a:xfrm>
              <a:prstGeom prst="ellipse">
                <a:avLst/>
              </a:prstGeom>
              <a:solidFill>
                <a:srgbClr val="DEE1E4"/>
              </a:solidFill>
              <a:ln>
                <a:noFill/>
              </a:ln>
              <a:effectLst>
                <a:outerShdw blurRad="127000" dist="1270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Elipse 46"/>
              <p:cNvSpPr/>
              <p:nvPr/>
            </p:nvSpPr>
            <p:spPr>
              <a:xfrm>
                <a:off x="8198450" y="4604522"/>
                <a:ext cx="1116818" cy="1116817"/>
              </a:xfrm>
              <a:prstGeom prst="ellipse">
                <a:avLst/>
              </a:prstGeom>
              <a:solidFill>
                <a:srgbClr val="E1E5EF"/>
              </a:solidFill>
              <a:ln>
                <a:noFill/>
              </a:ln>
              <a:effectLst>
                <a:outerShdw blurRad="127000" dist="127000" dir="13200000" algn="tl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127" name="Grupo 126"/>
          <p:cNvGrpSpPr/>
          <p:nvPr/>
        </p:nvGrpSpPr>
        <p:grpSpPr>
          <a:xfrm>
            <a:off x="2153226" y="3670392"/>
            <a:ext cx="6259253" cy="1608829"/>
            <a:chOff x="282625" y="1332437"/>
            <a:chExt cx="1670859" cy="5353400"/>
          </a:xfrm>
        </p:grpSpPr>
        <p:sp>
          <p:nvSpPr>
            <p:cNvPr id="134" name="Retângulo de cantos arredondados 133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5" name="Retângulo de cantos arredondados 134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9" name="Grupo 68"/>
          <p:cNvGrpSpPr/>
          <p:nvPr/>
        </p:nvGrpSpPr>
        <p:grpSpPr>
          <a:xfrm>
            <a:off x="147306" y="1427526"/>
            <a:ext cx="1530000" cy="3851695"/>
            <a:chOff x="282625" y="1332437"/>
            <a:chExt cx="1670859" cy="5353400"/>
          </a:xfrm>
        </p:grpSpPr>
        <p:sp>
          <p:nvSpPr>
            <p:cNvPr id="70" name="Retângulo de cantos arredondados 69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de cantos arredondados 70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5" name="Grupo 74"/>
          <p:cNvGrpSpPr/>
          <p:nvPr/>
        </p:nvGrpSpPr>
        <p:grpSpPr>
          <a:xfrm>
            <a:off x="2344243" y="238141"/>
            <a:ext cx="1530000" cy="874800"/>
            <a:chOff x="282625" y="1332437"/>
            <a:chExt cx="1670859" cy="5353400"/>
          </a:xfrm>
        </p:grpSpPr>
        <p:sp>
          <p:nvSpPr>
            <p:cNvPr id="76" name="Retângulo de cantos arredondados 75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Retângulo de cantos arredondados 76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1" name="Grupo 80"/>
          <p:cNvGrpSpPr/>
          <p:nvPr/>
        </p:nvGrpSpPr>
        <p:grpSpPr>
          <a:xfrm>
            <a:off x="4118708" y="238141"/>
            <a:ext cx="1530000" cy="874800"/>
            <a:chOff x="282625" y="1332437"/>
            <a:chExt cx="1670859" cy="5353400"/>
          </a:xfrm>
        </p:grpSpPr>
        <p:sp>
          <p:nvSpPr>
            <p:cNvPr id="83" name="Retângulo de cantos arredondados 82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Retângulo de cantos arredondados 88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0" name="Retângulo 39"/>
          <p:cNvSpPr/>
          <p:nvPr/>
        </p:nvSpPr>
        <p:spPr>
          <a:xfrm>
            <a:off x="352141" y="1486613"/>
            <a:ext cx="107561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Filtros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</a:t>
            </a:r>
            <a:b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Mês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Semestre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Região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UF</a:t>
            </a:r>
          </a:p>
          <a:p>
            <a:pPr algn="ctr"/>
            <a:r>
              <a:rPr lang="pt-BR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Mun</a:t>
            </a:r>
            <a:endParaRPr lang="pt-BR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2511866" y="266268"/>
            <a:ext cx="1141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Dimensão</a:t>
            </a:r>
          </a:p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100%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4263093" y="413178"/>
            <a:ext cx="12412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dirty="0" smtClean="0"/>
              <a:t>Indicador primário</a:t>
            </a:r>
          </a:p>
          <a:p>
            <a:pPr algn="ctr"/>
            <a:r>
              <a:rPr lang="pt-BR" sz="1100" dirty="0" smtClean="0"/>
              <a:t>100%</a:t>
            </a:r>
            <a:endParaRPr lang="pt-BR" sz="1100" dirty="0"/>
          </a:p>
        </p:txBody>
      </p:sp>
      <p:grpSp>
        <p:nvGrpSpPr>
          <p:cNvPr id="45" name="Grupo 80"/>
          <p:cNvGrpSpPr/>
          <p:nvPr/>
        </p:nvGrpSpPr>
        <p:grpSpPr>
          <a:xfrm>
            <a:off x="5983530" y="233651"/>
            <a:ext cx="1530000" cy="874800"/>
            <a:chOff x="282625" y="1332437"/>
            <a:chExt cx="1670859" cy="5353400"/>
          </a:xfrm>
        </p:grpSpPr>
        <p:sp>
          <p:nvSpPr>
            <p:cNvPr id="49" name="Retângulo de cantos arredondados 82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de cantos arredondados 88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2" name="Retângulo 51"/>
          <p:cNvSpPr/>
          <p:nvPr/>
        </p:nvSpPr>
        <p:spPr>
          <a:xfrm>
            <a:off x="6127915" y="408688"/>
            <a:ext cx="12412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dirty="0" smtClean="0"/>
              <a:t>Indicador primário</a:t>
            </a:r>
          </a:p>
          <a:p>
            <a:pPr algn="ctr"/>
            <a:r>
              <a:rPr lang="pt-BR" sz="1100" dirty="0" smtClean="0"/>
              <a:t>100%</a:t>
            </a:r>
            <a:endParaRPr lang="pt-BR" sz="1100" dirty="0"/>
          </a:p>
        </p:txBody>
      </p:sp>
      <p:grpSp>
        <p:nvGrpSpPr>
          <p:cNvPr id="57" name="Grupo 80"/>
          <p:cNvGrpSpPr/>
          <p:nvPr/>
        </p:nvGrpSpPr>
        <p:grpSpPr>
          <a:xfrm>
            <a:off x="7848352" y="220849"/>
            <a:ext cx="1530000" cy="874800"/>
            <a:chOff x="282625" y="1332437"/>
            <a:chExt cx="1670859" cy="5353400"/>
          </a:xfrm>
        </p:grpSpPr>
        <p:sp>
          <p:nvSpPr>
            <p:cNvPr id="58" name="Retângulo de cantos arredondados 82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Retângulo de cantos arredondados 88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0" name="Retângulo 59"/>
          <p:cNvSpPr/>
          <p:nvPr/>
        </p:nvSpPr>
        <p:spPr>
          <a:xfrm>
            <a:off x="7992737" y="395886"/>
            <a:ext cx="12412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dirty="0" smtClean="0"/>
              <a:t>Indicador primário</a:t>
            </a:r>
          </a:p>
          <a:p>
            <a:pPr algn="ctr"/>
            <a:r>
              <a:rPr lang="pt-BR" sz="1100" dirty="0" smtClean="0"/>
              <a:t>100%</a:t>
            </a:r>
            <a:endParaRPr lang="pt-BR" sz="1100" dirty="0"/>
          </a:p>
        </p:txBody>
      </p:sp>
      <p:grpSp>
        <p:nvGrpSpPr>
          <p:cNvPr id="61" name="Grupo 80"/>
          <p:cNvGrpSpPr/>
          <p:nvPr/>
        </p:nvGrpSpPr>
        <p:grpSpPr>
          <a:xfrm>
            <a:off x="9768924" y="233651"/>
            <a:ext cx="1530000" cy="874800"/>
            <a:chOff x="282625" y="1332437"/>
            <a:chExt cx="1670859" cy="5353400"/>
          </a:xfrm>
        </p:grpSpPr>
        <p:sp>
          <p:nvSpPr>
            <p:cNvPr id="62" name="Retângulo de cantos arredondados 82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tângulo de cantos arredondados 88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4" name="Retângulo 63"/>
          <p:cNvSpPr/>
          <p:nvPr/>
        </p:nvSpPr>
        <p:spPr>
          <a:xfrm>
            <a:off x="9913309" y="408688"/>
            <a:ext cx="12412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dirty="0" smtClean="0"/>
              <a:t>Indicador primário</a:t>
            </a:r>
          </a:p>
          <a:p>
            <a:pPr algn="ctr"/>
            <a:r>
              <a:rPr lang="pt-BR" sz="1100" dirty="0" smtClean="0"/>
              <a:t>100%</a:t>
            </a:r>
            <a:endParaRPr lang="pt-BR" sz="1100" dirty="0"/>
          </a:p>
        </p:txBody>
      </p:sp>
      <p:sp>
        <p:nvSpPr>
          <p:cNvPr id="34" name="Retângulo 33"/>
          <p:cNvSpPr/>
          <p:nvPr/>
        </p:nvSpPr>
        <p:spPr>
          <a:xfrm>
            <a:off x="4436277" y="797899"/>
            <a:ext cx="8948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6301099" y="800674"/>
            <a:ext cx="8948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2461078" y="797899"/>
            <a:ext cx="124122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100" dirty="0" smtClean="0"/>
              <a:t>Excelente</a:t>
            </a:r>
            <a:endParaRPr lang="pt-BR" sz="1100" dirty="0"/>
          </a:p>
        </p:txBody>
      </p:sp>
      <p:sp>
        <p:nvSpPr>
          <p:cNvPr id="37" name="Retângulo 36"/>
          <p:cNvSpPr/>
          <p:nvPr/>
        </p:nvSpPr>
        <p:spPr>
          <a:xfrm>
            <a:off x="8165921" y="797898"/>
            <a:ext cx="8948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10086493" y="796731"/>
            <a:ext cx="8948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Excelente</a:t>
            </a:r>
            <a:endParaRPr lang="pt-B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9" name="Grupo 74"/>
          <p:cNvGrpSpPr/>
          <p:nvPr/>
        </p:nvGrpSpPr>
        <p:grpSpPr>
          <a:xfrm>
            <a:off x="367395" y="233785"/>
            <a:ext cx="1530000" cy="874800"/>
            <a:chOff x="282625" y="1332437"/>
            <a:chExt cx="1670859" cy="5353400"/>
          </a:xfrm>
        </p:grpSpPr>
        <p:sp>
          <p:nvSpPr>
            <p:cNvPr id="43" name="Retângulo de cantos arredondados 75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Retângulo de cantos arredondados 76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4" name="Retângulo 53"/>
          <p:cNvSpPr/>
          <p:nvPr/>
        </p:nvSpPr>
        <p:spPr>
          <a:xfrm>
            <a:off x="328041" y="261912"/>
            <a:ext cx="15556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N° absoluto</a:t>
            </a:r>
          </a:p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Evento/saúde</a:t>
            </a:r>
          </a:p>
        </p:txBody>
      </p:sp>
      <p:grpSp>
        <p:nvGrpSpPr>
          <p:cNvPr id="56" name="Grupo 126"/>
          <p:cNvGrpSpPr/>
          <p:nvPr/>
        </p:nvGrpSpPr>
        <p:grpSpPr>
          <a:xfrm>
            <a:off x="2254482" y="1427526"/>
            <a:ext cx="2826969" cy="1903502"/>
            <a:chOff x="282625" y="1332437"/>
            <a:chExt cx="1670859" cy="5353400"/>
          </a:xfrm>
        </p:grpSpPr>
        <p:sp>
          <p:nvSpPr>
            <p:cNvPr id="65" name="Retângulo de cantos arredondados 133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Retângulo de cantos arredondados 134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7" name="Grupo 126"/>
          <p:cNvGrpSpPr/>
          <p:nvPr/>
        </p:nvGrpSpPr>
        <p:grpSpPr>
          <a:xfrm>
            <a:off x="5504321" y="1427526"/>
            <a:ext cx="2908158" cy="1903502"/>
            <a:chOff x="282625" y="1332437"/>
            <a:chExt cx="1670859" cy="5353400"/>
          </a:xfrm>
        </p:grpSpPr>
        <p:sp>
          <p:nvSpPr>
            <p:cNvPr id="68" name="Retângulo de cantos arredondados 133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Retângulo de cantos arredondados 134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3" name="Retângulo 72"/>
          <p:cNvSpPr/>
          <p:nvPr/>
        </p:nvSpPr>
        <p:spPr>
          <a:xfrm>
            <a:off x="2245383" y="3736784"/>
            <a:ext cx="223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Série Histórica do IQD</a:t>
            </a:r>
            <a:endParaRPr lang="pt-BR" sz="2800" dirty="0"/>
          </a:p>
        </p:txBody>
      </p:sp>
      <p:sp>
        <p:nvSpPr>
          <p:cNvPr id="74" name="Retângulo 73"/>
          <p:cNvSpPr/>
          <p:nvPr/>
        </p:nvSpPr>
        <p:spPr>
          <a:xfrm>
            <a:off x="2344243" y="3996100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</a:t>
            </a:r>
          </a:p>
        </p:txBody>
      </p:sp>
      <p:sp>
        <p:nvSpPr>
          <p:cNvPr id="78" name="Retângulo 77"/>
          <p:cNvSpPr/>
          <p:nvPr/>
        </p:nvSpPr>
        <p:spPr>
          <a:xfrm>
            <a:off x="2943201" y="3996100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ês</a:t>
            </a:r>
          </a:p>
        </p:txBody>
      </p:sp>
      <p:sp>
        <p:nvSpPr>
          <p:cNvPr id="79" name="Retângulo 78"/>
          <p:cNvSpPr/>
          <p:nvPr/>
        </p:nvSpPr>
        <p:spPr>
          <a:xfrm>
            <a:off x="3587899" y="3996100"/>
            <a:ext cx="1075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Semestre</a:t>
            </a:r>
          </a:p>
        </p:txBody>
      </p:sp>
      <p:sp>
        <p:nvSpPr>
          <p:cNvPr id="80" name="Retângulo 79"/>
          <p:cNvSpPr/>
          <p:nvPr/>
        </p:nvSpPr>
        <p:spPr>
          <a:xfrm>
            <a:off x="2288502" y="1460510"/>
            <a:ext cx="2496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Gráfico de Barras do IQD</a:t>
            </a:r>
          </a:p>
          <a:p>
            <a:r>
              <a:rPr lang="pt-BR" dirty="0" smtClean="0"/>
              <a:t> por região do Brasil</a:t>
            </a:r>
            <a:endParaRPr lang="pt-BR" sz="2800" dirty="0"/>
          </a:p>
        </p:txBody>
      </p:sp>
      <p:sp>
        <p:nvSpPr>
          <p:cNvPr id="82" name="Retângulo 81"/>
          <p:cNvSpPr/>
          <p:nvPr/>
        </p:nvSpPr>
        <p:spPr>
          <a:xfrm>
            <a:off x="5504321" y="1475818"/>
            <a:ext cx="266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Gráfico </a:t>
            </a:r>
            <a:r>
              <a:rPr lang="pt-BR" dirty="0" err="1" smtClean="0"/>
              <a:t>Treemap</a:t>
            </a:r>
            <a:r>
              <a:rPr lang="pt-BR" dirty="0" smtClean="0"/>
              <a:t> do IQD</a:t>
            </a:r>
            <a:br>
              <a:rPr lang="pt-BR" dirty="0" smtClean="0"/>
            </a:br>
            <a:r>
              <a:rPr lang="pt-BR" dirty="0" smtClean="0"/>
              <a:t>Por CNES</a:t>
            </a:r>
            <a:endParaRPr lang="pt-BR" sz="2800" dirty="0"/>
          </a:p>
        </p:txBody>
      </p:sp>
      <p:sp>
        <p:nvSpPr>
          <p:cNvPr id="84" name="Retângulo 83"/>
          <p:cNvSpPr/>
          <p:nvPr/>
        </p:nvSpPr>
        <p:spPr>
          <a:xfrm>
            <a:off x="9005570" y="2777750"/>
            <a:ext cx="25550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Mapa do Brasil com IQD por UF e Municípios.</a:t>
            </a:r>
            <a:endParaRPr lang="pt-BR" sz="2800" dirty="0"/>
          </a:p>
        </p:txBody>
      </p:sp>
      <p:grpSp>
        <p:nvGrpSpPr>
          <p:cNvPr id="85" name="Grupo 126"/>
          <p:cNvGrpSpPr/>
          <p:nvPr/>
        </p:nvGrpSpPr>
        <p:grpSpPr>
          <a:xfrm>
            <a:off x="134243" y="5476466"/>
            <a:ext cx="11988895" cy="1284393"/>
            <a:chOff x="282625" y="1332437"/>
            <a:chExt cx="1670859" cy="5353400"/>
          </a:xfrm>
        </p:grpSpPr>
        <p:sp>
          <p:nvSpPr>
            <p:cNvPr id="86" name="Retângulo de cantos arredondados 133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Retângulo de cantos arredondados 134"/>
            <p:cNvSpPr/>
            <p:nvPr/>
          </p:nvSpPr>
          <p:spPr>
            <a:xfrm>
              <a:off x="282625" y="1332437"/>
              <a:ext cx="1670859" cy="5353400"/>
            </a:xfrm>
            <a:prstGeom prst="roundRect">
              <a:avLst/>
            </a:prstGeom>
            <a:solidFill>
              <a:srgbClr val="E1E5EF"/>
            </a:solidFill>
            <a:ln>
              <a:noFill/>
            </a:ln>
            <a:effectLst>
              <a:outerShdw blurRad="127000" dist="127000" dir="13200000" algn="tl" rotWithShape="0">
                <a:schemeClr val="bg1">
                  <a:alpha val="8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8" name="Retângulo 87"/>
          <p:cNvSpPr/>
          <p:nvPr/>
        </p:nvSpPr>
        <p:spPr>
          <a:xfrm>
            <a:off x="204106" y="5496441"/>
            <a:ext cx="8529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Tabela com Registros para investigação dos registros sem qualidade do IQD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8243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0" y="-1"/>
            <a:ext cx="1005840" cy="58783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2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24353</TotalTime>
  <Words>140</Words>
  <Application>Microsoft Office PowerPoint</Application>
  <PresentationFormat>Widescreen</PresentationFormat>
  <Paragraphs>69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marlisimoes</cp:lastModifiedBy>
  <cp:revision>153</cp:revision>
  <dcterms:created xsi:type="dcterms:W3CDTF">2020-04-07T19:24:56Z</dcterms:created>
  <dcterms:modified xsi:type="dcterms:W3CDTF">2026-07-28T00:34:42Z</dcterms:modified>
</cp:coreProperties>
</file>